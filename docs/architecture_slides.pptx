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834640"/>
          </a:xfrm>
          <a:prstGeom prst="rect">
            <a:avLst/>
          </a:prstGeom>
          <a:solidFill>
            <a:srgbClr val="2F4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40080" tIns="365760"/>
          <a:lstStyle/>
          <a:p>
            <a:pPr algn="ctr"/>
            <a:r>
              <a:rPr sz="4800" b="1">
                <a:solidFill>
                  <a:srgbClr val="FFFFFF"/>
                </a:solidFill>
                <a:latin typeface="Helvetica"/>
              </a:rPr>
              <a:t>APECx MCP Integration</a:t>
            </a:r>
          </a:p>
          <a:p>
            <a:r>
              <a:rPr sz="3200">
                <a:solidFill>
                  <a:srgbClr val="CCD8E5"/>
                </a:solidFill>
                <a:latin typeface="Helvetica"/>
              </a:rPr>
              <a:t>End-to-End Architecture</a:t>
            </a:r>
          </a:p>
          <a:p>
            <a:r>
              <a:rPr sz="1800">
                <a:solidFill>
                  <a:srgbClr val="CCD8E5"/>
                </a:solidFill>
                <a:latin typeface="Helvetica"/>
              </a:rPr>
              <a:t>Synthesis pipeline · 23 MCP tools · 6 ontologies · 504 unit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66666"/>
                </a:solidFill>
                <a:latin typeface="Helvetica"/>
              </a:rPr>
              <a:t>Generated 2026-05-05  ·  apecx-mcp-integration repo  ·  branch day2-rag-synthesis-agent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F4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Agenda</a:t>
            </a:r>
          </a:p>
          <a:p>
            <a:r>
              <a:rPr sz="1300">
                <a:solidFill>
                  <a:srgbClr val="CCD8E5"/>
                </a:solidFill>
                <a:latin typeface="Helvetica"/>
              </a:rPr>
              <a:t>What this deck covers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>
                <a:solidFill>
                  <a:srgbClr val="222222"/>
                </a:solidFill>
                <a:latin typeface="Helvetica"/>
              </a:rPr>
              <a:t>•  Three-tier runtime topology (Tiers 1, 2, 4)</a:t>
            </a:r>
          </a:p>
          <a:p>
            <a:pPr>
              <a:lnSpc>
                <a:spcPct val="115000"/>
              </a:lnSpc>
            </a:pPr>
            <a:r>
              <a:rPr sz="2000">
                <a:solidFill>
                  <a:srgbClr val="222222"/>
                </a:solidFill>
                <a:latin typeface="Helvetica"/>
              </a:rPr>
              <a:t>•  Synthesis pipeline — 5 retrieval branches + LLM synthesis</a:t>
            </a:r>
          </a:p>
          <a:p>
            <a:pPr>
              <a:lnSpc>
                <a:spcPct val="115000"/>
              </a:lnSpc>
            </a:pPr>
            <a:r>
              <a:rPr sz="2000">
                <a:solidFill>
                  <a:srgbClr val="222222"/>
                </a:solidFill>
                <a:latin typeface="Helvetica"/>
              </a:rPr>
              <a:t>•  Three invocation paths (MCP tool · Workflow runtime · direct steps)</a:t>
            </a:r>
          </a:p>
          <a:p>
            <a:pPr>
              <a:lnSpc>
                <a:spcPct val="115000"/>
              </a:lnSpc>
            </a:pPr>
            <a:r>
              <a:rPr sz="2000">
                <a:solidFill>
                  <a:srgbClr val="222222"/>
                </a:solidFill>
                <a:latin typeface="Helvetica"/>
              </a:rPr>
              <a:t>•  Trigger-cascade primitive (added 2026-05-05 to nanobrain)</a:t>
            </a:r>
          </a:p>
          <a:p>
            <a:pPr>
              <a:lnSpc>
                <a:spcPct val="115000"/>
              </a:lnSpc>
            </a:pPr>
            <a:r>
              <a:rPr sz="2000">
                <a:solidFill>
                  <a:srgbClr val="222222"/>
                </a:solidFill>
                <a:latin typeface="Helvetica"/>
              </a:rPr>
              <a:t>•  Mapping &amp; resolution strategy — fast / ancestor / slow / miss</a:t>
            </a:r>
          </a:p>
          <a:p>
            <a:pPr>
              <a:lnSpc>
                <a:spcPct val="115000"/>
              </a:lnSpc>
            </a:pPr>
            <a:r>
              <a:rPr sz="2000">
                <a:solidFill>
                  <a:srgbClr val="222222"/>
                </a:solidFill>
                <a:latin typeface="Helvetica"/>
              </a:rPr>
              <a:t>•  Ontologies — NCBITaxon, VO, DOID, GO, NCBI Gene, APECx Local</a:t>
            </a:r>
          </a:p>
          <a:p>
            <a:pPr>
              <a:lnSpc>
                <a:spcPct val="115000"/>
              </a:lnSpc>
            </a:pPr>
            <a:r>
              <a:rPr sz="2000">
                <a:solidFill>
                  <a:srgbClr val="222222"/>
                </a:solidFill>
                <a:latin typeface="Helvetica"/>
              </a:rPr>
              <a:t>•  MCP tool surface — 23 tools across 8 groups</a:t>
            </a:r>
          </a:p>
          <a:p>
            <a:pPr>
              <a:lnSpc>
                <a:spcPct val="115000"/>
              </a:lnSpc>
            </a:pPr>
            <a:r>
              <a:rPr sz="2000">
                <a:solidFill>
                  <a:srgbClr val="222222"/>
                </a:solidFill>
                <a:latin typeface="Helvetica"/>
              </a:rPr>
              <a:t>•  Test surface — 504 unit + workflow YAML + cascade runtime</a:t>
            </a:r>
          </a:p>
          <a:p>
            <a:pPr>
              <a:lnSpc>
                <a:spcPct val="115000"/>
              </a:lnSpc>
            </a:pPr>
            <a:r>
              <a:rPr sz="2000">
                <a:solidFill>
                  <a:srgbClr val="222222"/>
                </a:solidFill>
                <a:latin typeface="Helvetica"/>
              </a:rPr>
              <a:t>•  Things that will surprise you (silent-failure shapes)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Helvetica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F4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System Purpose</a:t>
            </a:r>
          </a:p>
          <a:p>
            <a:r>
              <a:rPr sz="1300">
                <a:solidFill>
                  <a:srgbClr val="CCD8E5"/>
                </a:solidFill>
                <a:latin typeface="Helvetica"/>
              </a:rPr>
              <a:t>One-paragraph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Helvetica"/>
              </a:rPr>
              <a:t>APECx MCP integration takes free-text scientist questions about viral pathogens, vaccines, genes, and genomes and turns them into grounded Markdown answers with inline citations.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222"/>
                </a:solidFill>
                <a:latin typeface="Helvetica"/>
              </a:rPr>
              <a:t>It does this by fanning out across local FAISS-indexed knowledge (domain RAG), local VIOLIN/BV-BRC tabular data (substring lookup), live PubMed publications, and the APECx Globus Search index of harvested records — then driving one LLM call to weave the retrieved evidence into a structured response.</a:t>
            </a:r>
            <a:br/>
            <a:br/>
            <a:r>
              <a:t>The system is exposed via the Model Context Protocol (MCP), so it appears as a tool surface inside Claude Desktop and any MCP-compatible client.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Helvetica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F4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Three-Tier Runtime Topology</a:t>
            </a:r>
          </a:p>
          <a:p>
            <a:r>
              <a:rPr sz="1300">
                <a:solidFill>
                  <a:srgbClr val="CCD8E5"/>
                </a:solidFill>
                <a:latin typeface="Helvetica"/>
              </a:rPr>
              <a:t>Tier 1 (this repo) · Tier 2 (Control Plane) · Tier 4 (Executors)</a:t>
            </a:r>
          </a:p>
        </p:txBody>
      </p:sp>
      <p:pic>
        <p:nvPicPr>
          <p:cNvPr id="3" name="Picture 2" descr="01_three_tier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521440" cy="73172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0" y="644652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Helvetica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F4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Synthesis Pipeline</a:t>
            </a:r>
          </a:p>
          <a:p>
            <a:r>
              <a:rPr sz="1300">
                <a:solidFill>
                  <a:srgbClr val="CCD8E5"/>
                </a:solidFill>
                <a:latin typeface="Helvetica"/>
              </a:rPr>
              <a:t>5 concurrent retrieval branches → 1 LLM round-trip → grounded Markdown</a:t>
            </a:r>
          </a:p>
        </p:txBody>
      </p:sp>
      <p:pic>
        <p:nvPicPr>
          <p:cNvPr id="3" name="Picture 2" descr="02_synthesis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521440" cy="65718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0" y="644652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Helvetica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F4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Three Invocation Paths</a:t>
            </a:r>
          </a:p>
          <a:p>
            <a:r>
              <a:rPr sz="1300">
                <a:solidFill>
                  <a:srgbClr val="CCD8E5"/>
                </a:solidFill>
                <a:latin typeface="Helvetica"/>
              </a:rPr>
              <a:t>Pick one based on the calling context</a:t>
            </a:r>
          </a:p>
        </p:txBody>
      </p:sp>
      <p:pic>
        <p:nvPicPr>
          <p:cNvPr id="3" name="Picture 2" descr="03_invocation_pa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521440" cy="58308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0" y="644652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Helvetica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F4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Workflow.wait_for_cascade</a:t>
            </a:r>
          </a:p>
          <a:p>
            <a:r>
              <a:rPr sz="1300">
                <a:solidFill>
                  <a:srgbClr val="CCD8E5"/>
                </a:solidFill>
                <a:latin typeface="Helvetica"/>
              </a:rPr>
              <a:t>Added to nanobrain 2026-05-05 — drains the trigger executor's task set with a settle window</a:t>
            </a:r>
          </a:p>
        </p:txBody>
      </p:sp>
      <p:pic>
        <p:nvPicPr>
          <p:cNvPr id="3" name="Picture 2" descr="08_trigger_cascade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521440" cy="799492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0" y="644652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Helvetica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F4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Mapping &amp; Resolution Strategy</a:t>
            </a:r>
          </a:p>
          <a:p>
            <a:r>
              <a:rPr sz="1300">
                <a:solidFill>
                  <a:srgbClr val="CCD8E5"/>
                </a:solidFill>
                <a:latin typeface="Helvetica"/>
              </a:rPr>
              <a:t>fast → ancestor → slow → miss; every result carries (path, confidence)</a:t>
            </a:r>
          </a:p>
        </p:txBody>
      </p:sp>
      <p:pic>
        <p:nvPicPr>
          <p:cNvPr id="3" name="Picture 2" descr="04_resolution_decision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914400"/>
            <a:ext cx="8686800" cy="5948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0" y="644652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Helvetica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F4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Ontologies</a:t>
            </a:r>
          </a:p>
          <a:p>
            <a:r>
              <a:rPr sz="1300">
                <a:solidFill>
                  <a:srgbClr val="CCD8E5"/>
                </a:solidFill>
                <a:latin typeface="Helvetica"/>
              </a:rPr>
              <a:t>Authoritative sources tracked in DictionaryEntry.ontology</a:t>
            </a:r>
          </a:p>
        </p:txBody>
      </p:sp>
      <p:pic>
        <p:nvPicPr>
          <p:cNvPr id="3" name="Picture 2" descr="06_ontologies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521440" cy="50256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0" y="644652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Helvetica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F4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MCP Tool Surface</a:t>
            </a:r>
          </a:p>
          <a:p>
            <a:r>
              <a:rPr sz="1300">
                <a:solidFill>
                  <a:srgbClr val="CCD8E5"/>
                </a:solidFill>
                <a:latin typeface="Helvetica"/>
              </a:rPr>
              <a:t>23 tools across 8 groups</a:t>
            </a:r>
          </a:p>
        </p:txBody>
      </p:sp>
      <p:pic>
        <p:nvPicPr>
          <p:cNvPr id="3" name="Picture 2" descr="07_mcp_tool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14400"/>
            <a:ext cx="10881360" cy="62884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0" y="644652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Helvetica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F4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Test Surface</a:t>
            </a:r>
          </a:p>
          <a:p>
            <a:r>
              <a:rPr sz="1300">
                <a:solidFill>
                  <a:srgbClr val="CCD8E5"/>
                </a:solidFill>
                <a:latin typeface="Helvetica"/>
              </a:rPr>
              <a:t>504 unit tests · 7 workflow YAML · 1 cascade runtime — auto-skip when external deps missing</a:t>
            </a:r>
          </a:p>
        </p:txBody>
      </p:sp>
      <p:pic>
        <p:nvPicPr>
          <p:cNvPr id="3" name="Picture 2" descr="05_test_su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521440" cy="59698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0" y="644652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Helvetica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F4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Session Outcome</a:t>
            </a:r>
          </a:p>
          <a:p>
            <a:r>
              <a:rPr sz="1300">
                <a:solidFill>
                  <a:srgbClr val="CCD8E5"/>
                </a:solidFill>
                <a:latin typeface="Helvetica"/>
              </a:rPr>
              <a:t>12 bugs / drifts uncovered, all fixed and pinned by tests</a:t>
            </a:r>
          </a:p>
        </p:txBody>
      </p:sp>
      <p:pic>
        <p:nvPicPr>
          <p:cNvPr id="3" name="Picture 2" descr="09_session_bug_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14400"/>
            <a:ext cx="10881360" cy="60504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0" y="644652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Helvetica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F4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Things That Will Surprise You</a:t>
            </a:r>
          </a:p>
          <a:p>
            <a:r>
              <a:rPr sz="1300">
                <a:solidFill>
                  <a:srgbClr val="CCD8E5"/>
                </a:solidFill>
                <a:latin typeface="Helvetica"/>
              </a:rPr>
              <a:t>Silent-failure shapes you'll hit if you don't know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800">
                <a:solidFill>
                  <a:srgbClr val="222222"/>
                </a:solidFill>
                <a:latin typeface="Helvetica"/>
              </a:rPr>
              <a:t>•  Workflow.process(input) is fire-and-forget — use wait_for_cascade to await</a:t>
            </a:r>
          </a:p>
          <a:p>
            <a:pPr>
              <a:lnSpc>
                <a:spcPct val="125000"/>
              </a:lnSpc>
            </a:pPr>
            <a:r>
              <a:rPr sz="1800">
                <a:solidFill>
                  <a:srgbClr val="222222"/>
                </a:solidFill>
                <a:latin typeface="Helvetica"/>
              </a:rPr>
              <a:t>•  DirectLink defaults to auto_transfer=False — workflow loads, cascade no-ops</a:t>
            </a:r>
          </a:p>
          <a:p>
            <a:pPr>
              <a:lnSpc>
                <a:spcPct val="125000"/>
              </a:lnSpc>
            </a:pPr>
            <a:r>
              <a:rPr sz="1800">
                <a:solidFill>
                  <a:srgbClr val="222222"/>
                </a:solidFill>
                <a:latin typeface="Helvetica"/>
              </a:rPr>
              <a:t>•  Workflows need workflow-level input_data_units AND step-level data_units</a:t>
            </a:r>
          </a:p>
          <a:p>
            <a:pPr>
              <a:lnSpc>
                <a:spcPct val="125000"/>
              </a:lnSpc>
            </a:pPr>
            <a:r>
              <a:rPr sz="1800">
                <a:solidFill>
                  <a:srgbClr val="222222"/>
                </a:solidFill>
                <a:latin typeface="Helvetica"/>
              </a:rPr>
              <a:t>•  Trigger inputs are wrapped {unit_name: payload}; direct callers pass raw</a:t>
            </a:r>
          </a:p>
          <a:p>
            <a:pPr>
              <a:lnSpc>
                <a:spcPct val="125000"/>
              </a:lnSpc>
            </a:pPr>
            <a:r>
              <a:rPr sz="1800">
                <a:solidFill>
                  <a:srgbClr val="222222"/>
                </a:solidFill>
                <a:latin typeface="Helvetica"/>
              </a:rPr>
              <a:t>•  FAISS / sentence_transformers import order is load-bearing on macOS ARM</a:t>
            </a:r>
          </a:p>
          <a:p>
            <a:pPr>
              <a:lnSpc>
                <a:spcPct val="125000"/>
              </a:lnSpc>
            </a:pPr>
            <a:r>
              <a:rPr sz="1800">
                <a:solidFill>
                  <a:srgbClr val="222222"/>
                </a:solidFill>
                <a:latin typeface="Helvetica"/>
              </a:rPr>
              <a:t>•  Synthesis branch failures degrade gracefully; all-empty raises ValueError</a:t>
            </a:r>
          </a:p>
          <a:p>
            <a:pPr>
              <a:lnSpc>
                <a:spcPct val="125000"/>
              </a:lnSpc>
            </a:pPr>
            <a:r>
              <a:rPr sz="1800">
                <a:solidFill>
                  <a:srgbClr val="222222"/>
                </a:solidFill>
                <a:latin typeface="Helvetica"/>
              </a:rPr>
              <a:t>•  Globus Search is read-only at the ingest boundary — harvester is offline</a:t>
            </a:r>
          </a:p>
          <a:p>
            <a:pPr>
              <a:lnSpc>
                <a:spcPct val="125000"/>
              </a:lnSpc>
            </a:pPr>
            <a:r>
              <a:rPr sz="1800">
                <a:solidFill>
                  <a:srgbClr val="222222"/>
                </a:solidFill>
                <a:latin typeface="Helvetica"/>
              </a:rPr>
              <a:t>•  extra='forbid' is mandatory on every step config (silent typo defense)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4652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Helvetica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F4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Failure Contract Per Branch</a:t>
            </a:r>
          </a:p>
          <a:p>
            <a:r>
              <a:rPr sz="1300">
                <a:solidFill>
                  <a:srgbClr val="CCD8E5"/>
                </a:solidFill>
                <a:latin typeface="Helvetica"/>
              </a:rPr>
              <a:t>Branch failures degrade; all-empty raises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97680"/>
                <a:gridCol w="4389120"/>
              </a:tblGrid>
              <a:tr h="65314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"/>
                        </a:rPr>
                        <a:t>Branch</a:t>
                      </a:r>
                    </a:p>
                  </a:txBody>
                  <a:tcPr marL="137160" marR="137160">
                    <a:solidFill>
                      <a:srgbClr val="2F4F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"/>
                        </a:rPr>
                        <a:t>Failure</a:t>
                      </a:r>
                    </a:p>
                  </a:txBody>
                  <a:tcPr marL="137160" marR="137160">
                    <a:solidFill>
                      <a:srgbClr val="2F4F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"/>
                        </a:rPr>
                        <a:t>Effect</a:t>
                      </a:r>
                    </a:p>
                  </a:txBody>
                  <a:tcPr marL="137160" marR="137160">
                    <a:solidFill>
                      <a:srgbClr val="2F4F6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Helvetica"/>
                        </a:rPr>
                        <a:t>Domain RAG</a:t>
                      </a:r>
                    </a:p>
                  </a:txBody>
                  <a:tcPr marL="137160" marR="137160"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Helvetica"/>
                        </a:rPr>
                        <a:t>Missing FAISS / corrupted bin</a:t>
                      </a:r>
                    </a:p>
                  </a:txBody>
                  <a:tcPr marL="137160" marR="137160"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Helvetica"/>
                        </a:rPr>
                        <a:t>rag_chunks=[], WARNING</a:t>
                      </a:r>
                    </a:p>
                  </a:txBody>
                  <a:tcPr marL="137160" marR="137160">
                    <a:solidFill>
                      <a:srgbClr val="F5F5F8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Helvetica"/>
                        </a:rPr>
                        <a:t>VIOLIN / BV-BRC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Helvetica"/>
                        </a:rPr>
                        <a:t>Missing CSV / wrong column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Helvetica"/>
                        </a:rPr>
                        <a:t>both bundles=[], WARNING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Helvetica"/>
                        </a:rPr>
                        <a:t>PubMed</a:t>
                      </a:r>
                    </a:p>
                  </a:txBody>
                  <a:tcPr marL="137160" marR="137160"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Helvetica"/>
                        </a:rPr>
                        <a:t>Network / 5xx / timeout</a:t>
                      </a:r>
                    </a:p>
                  </a:txBody>
                  <a:tcPr marL="137160" marR="137160"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Helvetica"/>
                        </a:rPr>
                        <a:t>publications=[], WARNING</a:t>
                      </a:r>
                    </a:p>
                  </a:txBody>
                  <a:tcPr marL="137160" marR="137160">
                    <a:solidFill>
                      <a:srgbClr val="F5F5F8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Helvetica"/>
                        </a:rPr>
                        <a:t>Globus Search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Helvetica"/>
                        </a:rPr>
                        <a:t>SDK missing / network / bad UUID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Helvetica"/>
                        </a:rPr>
                        <a:t>globus_results=[], WARNING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Helvetica"/>
                        </a:rPr>
                        <a:t>Synthesis LLM</a:t>
                      </a:r>
                    </a:p>
                  </a:txBody>
                  <a:tcPr marL="137160" marR="137160"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Helvetica"/>
                        </a:rPr>
                        <a:t>Endpoint down / model rejects</a:t>
                      </a:r>
                    </a:p>
                  </a:txBody>
                  <a:tcPr marL="137160" marR="137160"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Helvetica"/>
                        </a:rPr>
                        <a:t>ValueError → MCP {error}</a:t>
                      </a:r>
                    </a:p>
                  </a:txBody>
                  <a:tcPr marL="137160" marR="137160">
                    <a:solidFill>
                      <a:srgbClr val="F5F5F8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Helvetica"/>
                        </a:rPr>
                        <a:t>ALL branches empty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Helvetica"/>
                        </a:rPr>
                        <a:t>fail_on_empty_retrieval gate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Helvetica"/>
                        </a:rPr>
                        <a:t>ValueError raised</a:t>
                      </a:r>
                    </a:p>
                  </a:txBody>
                  <a:tcPr marL="137160" marR="1371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515600" y="644652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Helvetica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F4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References</a:t>
            </a:r>
          </a:p>
          <a:p>
            <a:r>
              <a:rPr sz="1300">
                <a:solidFill>
                  <a:srgbClr val="CCD8E5"/>
                </a:solidFill>
                <a:latin typeface="Helvetica"/>
              </a:rPr>
              <a:t>Where to read more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700">
                <a:solidFill>
                  <a:srgbClr val="222222"/>
                </a:solidFill>
                <a:latin typeface="Helvetica"/>
              </a:rPr>
              <a:t>•  docs/architecture.md — canonical end-to-end map (8 Mermaid diagrams + this content)</a:t>
            </a:r>
          </a:p>
          <a:p>
            <a:pPr>
              <a:lnSpc>
                <a:spcPct val="140000"/>
              </a:lnSpc>
            </a:pPr>
            <a:r>
              <a:rPr sz="1700">
                <a:solidFill>
                  <a:srgbClr val="222222"/>
                </a:solidFill>
                <a:latin typeface="Helvetica"/>
              </a:rPr>
              <a:t>•  CLAUDE.md — repo-local rules (Python venv, FAISS import order, MCP tool listing)</a:t>
            </a:r>
          </a:p>
          <a:p>
            <a:pPr>
              <a:lnSpc>
                <a:spcPct val="140000"/>
              </a:lnSpc>
            </a:pPr>
            <a:r>
              <a:rPr sz="1700">
                <a:solidFill>
                  <a:srgbClr val="222222"/>
                </a:solidFill>
                <a:latin typeface="Helvetica"/>
              </a:rPr>
              <a:t>•  ../CLAUDE.md — workspace policy (cross-repo rules, mocks carve-out, harvester boundary)</a:t>
            </a:r>
          </a:p>
          <a:p>
            <a:pPr>
              <a:lnSpc>
                <a:spcPct val="140000"/>
              </a:lnSpc>
            </a:pPr>
            <a:r>
              <a:rPr sz="1700">
                <a:solidFill>
                  <a:srgbClr val="222222"/>
                </a:solidFill>
                <a:latin typeface="Helvetica"/>
              </a:rPr>
              <a:t>•  docs/figures/*.png — source images for this deck (rerun build_figures.py to regenerate)</a:t>
            </a:r>
          </a:p>
          <a:p>
            <a:pPr>
              <a:lnSpc>
                <a:spcPct val="140000"/>
              </a:lnSpc>
            </a:pPr>
            <a:r>
              <a:rPr sz="1700">
                <a:solidFill>
                  <a:srgbClr val="222222"/>
                </a:solidFill>
                <a:latin typeface="Helvetica"/>
              </a:rPr>
              <a:t>•  tests/integration/test_rag_e2e_workflow_yaml.py — the cascade test that found the silent-failure bugs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D16837"/>
                </a:solidFill>
                <a:latin typeface="Helvetica"/>
              </a:rPr>
              <a:t>End — questions /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Helvetica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