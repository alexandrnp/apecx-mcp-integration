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8346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40080" tIns="365760"/>
          <a:lstStyle/>
          <a:p>
            <a:pPr algn="ctr"/>
            <a:r>
              <a:rPr sz="4800" b="1">
                <a:solidFill>
                  <a:srgbClr val="FFFFFF"/>
                </a:solidFill>
                <a:latin typeface="Helvetica"/>
              </a:rPr>
              <a:t>APECx MCP Integration</a:t>
            </a:r>
          </a:p>
          <a:p>
            <a:r>
              <a:rPr sz="3200">
                <a:solidFill>
                  <a:srgbClr val="CCD8E5"/>
                </a:solidFill>
                <a:latin typeface="Helvetica"/>
              </a:rPr>
              <a:t>End-to-End Architecture</a:t>
            </a:r>
          </a:p>
          <a:p>
            <a:r>
              <a:rPr sz="1800">
                <a:solidFill>
                  <a:srgbClr val="CCD8E5"/>
                </a:solidFill>
                <a:latin typeface="Helvetica"/>
              </a:rPr>
              <a:t>Synthesis pipeline · 23 MCP tools · 6 ontologies · 504 unit tests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852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Helvetica"/>
              </a:rPr>
              <a:t>Generated 2026-05-05  ·  apecx-mcp-integration repo  ·  branch day2-rag-synthesis-agent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Agenda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What this deck covers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Two lifecycles — backend (offline, periodic) vs. user-facing (online, per-query)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Backend harmonization pipeline — harvester + dictionary builder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User-facing query workflow — MCP entry → synthesis → markdown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Three-tier runtime topology (Tiers 1, 2, 4)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Synthesis pipeline detail — 5 retrieval branches + LLM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Trigger-cascade primitive (added 2026-05-05 to nanobrain)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Mapping &amp; resolution strategy — fast / ancestor / slow / miss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Ontologies, MCP tool surface, test surface</a:t>
            </a:r>
          </a:p>
          <a:p>
            <a:pPr>
              <a:lnSpc>
                <a:spcPct val="115000"/>
              </a:lnSpc>
            </a:pPr>
            <a:r>
              <a:rPr sz="2000">
                <a:solidFill>
                  <a:srgbClr val="222222"/>
                </a:solidFill>
                <a:latin typeface="Helvetica"/>
              </a:rPr>
              <a:t>•  Things that will surprise you (silent-failure shapes)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System Purpose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One-paragraph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Helvetica"/>
              </a:rPr>
              <a:t>APECx MCP integration takes free-text scientist questions about viral pathogens, vaccines, genes, and genomes and turns them into grounded Markdown answers with inline citations.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22222"/>
                </a:solidFill>
                <a:latin typeface="Helvetica"/>
              </a:rPr>
              <a:t>It does this by fanning out across local FAISS-indexed knowledge (domain RAG), local VIOLIN/BV-BRC tabular data (substring lookup), live PubMed publications, and the APECx Globus Search index of harvested records — then driving one LLM call to weave the retrieved evidence into a structured response.</a:t>
            </a:r>
            <a:br/>
            <a:br/>
            <a:r>
              <a:t>The system is exposed via the Model Context Protocol (MCP), so it appears as a tool surface inside Claude Desktop and any MCP-compatible client.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Two Lifecycles, One Bridge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Backend vs. user-facing — the central organizing distinction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16837"/>
                </a:solidFill>
                <a:latin typeface="Helvetica"/>
              </a:rPr>
              <a:t>BACKEND HARMONIZATION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Run periodically (e.g. monthly)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Two pipelines: harvester (apecx-harvesters) + dictionary builder (this repo)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Writes Globus Search index + apecx_synonym_dict.sqlite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Synchronous, batch, NOT on the per-query hot path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Sources: PubMed, PDB, DataCite, Crossref, OpenAlex, bioRxiv, EMDB, DOI, VIOLIN, BV-BRC, NCBI taxdump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887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060A0"/>
                </a:solidFill>
                <a:latin typeface="Helvetica"/>
              </a:rPr>
              <a:t>USER-FACING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Per scientist query (~70s wall-clock on Ollama)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MCP server → synthesize_query → 4 retrieval branches → LLM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Reads the artifacts the backend wrote — never writes back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Real-time, async, fail-soft branch failures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222222"/>
                </a:solidFill>
                <a:latin typeface="Helvetica"/>
              </a:rPr>
              <a:t>•  Globus + FAISS + VIOLIN/BV-BRC + PubMed + (synonym dict for fast-path resolution)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22222"/>
                </a:solidFill>
                <a:latin typeface="Helvetica"/>
              </a:rPr>
              <a:t>Bridge: every artifact the backend writes, the user-facing workflow reads — and never writes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Backend Harmonization Pipeline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Offline · run periodically · harvester (apecx-harvesters) + dictionary builder (this repo)</a:t>
            </a:r>
          </a:p>
        </p:txBody>
      </p:sp>
      <p:pic>
        <p:nvPicPr>
          <p:cNvPr id="3" name="Picture 2" descr="10_backend_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4684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User-Facing Workflow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Online · per-query · ~70s wall-clock · 3 bands (MCP entry → synthesis → artifacts read)</a:t>
            </a:r>
          </a:p>
        </p:txBody>
      </p:sp>
      <p:pic>
        <p:nvPicPr>
          <p:cNvPr id="3" name="Picture 2" descr="11_user_facing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4684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Three-Tier Runtime Topology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Tier 1 (this repo) · Tier 2 (Control Plane) · Tier 4 (Executors)</a:t>
            </a:r>
          </a:p>
        </p:txBody>
      </p:sp>
      <p:pic>
        <p:nvPicPr>
          <p:cNvPr id="3" name="Picture 2" descr="01_three_tier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317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Synthesis Pipeline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5 concurrent retrieval branches → 1 LLM round-trip → grounded Markdown</a:t>
            </a:r>
          </a:p>
        </p:txBody>
      </p:sp>
      <p:pic>
        <p:nvPicPr>
          <p:cNvPr id="3" name="Picture 2" descr="02_synthesi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65718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Three Invocation Paths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Pick one based on the calling context</a:t>
            </a:r>
          </a:p>
        </p:txBody>
      </p:sp>
      <p:pic>
        <p:nvPicPr>
          <p:cNvPr id="3" name="Picture 2" descr="03_invocation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5830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Workflow.wait_for_cascade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Added to nanobrain 2026-05-05 — drains the trigger executor's task set with a settle window</a:t>
            </a:r>
          </a:p>
        </p:txBody>
      </p:sp>
      <p:pic>
        <p:nvPicPr>
          <p:cNvPr id="3" name="Picture 2" descr="08_trigger_cascade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79949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Mapping &amp; Resolution Strategy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fast → ancestor → slow → miss; every result carries (path, confidence)</a:t>
            </a:r>
          </a:p>
        </p:txBody>
      </p:sp>
      <p:pic>
        <p:nvPicPr>
          <p:cNvPr id="3" name="Picture 2" descr="04_resolution_decisio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914400"/>
            <a:ext cx="8686800" cy="5948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Ontologies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Authoritative sources tracked in DictionaryEntry.ontology</a:t>
            </a:r>
          </a:p>
        </p:txBody>
      </p:sp>
      <p:pic>
        <p:nvPicPr>
          <p:cNvPr id="3" name="Picture 2" descr="06_ontologie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5025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MCP Tool Surface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23 tools across 8 groups</a:t>
            </a:r>
          </a:p>
        </p:txBody>
      </p:sp>
      <p:pic>
        <p:nvPicPr>
          <p:cNvPr id="3" name="Picture 2" descr="07_mcp_too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10881360" cy="62884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 Surface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504 unit tests · 7 workflow YAML · 1 cascade runtime — auto-skip when external deps missing</a:t>
            </a:r>
          </a:p>
        </p:txBody>
      </p:sp>
      <p:pic>
        <p:nvPicPr>
          <p:cNvPr id="3" name="Picture 2" descr="05_test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521440" cy="59698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Session Outcome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12 bugs / drifts uncovered, all fixed and pinned by tests</a:t>
            </a:r>
          </a:p>
        </p:txBody>
      </p:sp>
      <p:pic>
        <p:nvPicPr>
          <p:cNvPr id="3" name="Picture 2" descr="09_session_bug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10881360" cy="60504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Things That Will Surprise You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Silent-failure shapes you'll hit if you don't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Workflow.process(input) is fire-and-forget — use wait_for_cascade to await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DirectLink defaults to auto_transfer=False — workflow loads, cascade no-ops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Workflows need workflow-level input_data_units AND step-level data_units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Trigger inputs are wrapped {unit_name: payload}; direct callers pass raw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FAISS / sentence_transformers import order is load-bearing on macOS ARM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Synthesis branch failures degrade gracefully; all-empty raises ValueError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Globus Search is read-only at the ingest boundary — harvester is offline</a:t>
            </a:r>
          </a:p>
          <a:p>
            <a:pPr>
              <a:lnSpc>
                <a:spcPct val="125000"/>
              </a:lnSpc>
            </a:pPr>
            <a:r>
              <a:rPr sz="1800">
                <a:solidFill>
                  <a:srgbClr val="222222"/>
                </a:solidFill>
                <a:latin typeface="Helvetica"/>
              </a:rPr>
              <a:t>•  extra='forbid' is mandatory on every step config (silent typo defense)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Failure Contract Per Branch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Branch failures degrade; all-empty raises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389120"/>
              </a:tblGrid>
              <a:tr h="65314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"/>
                        </a:rPr>
                        <a:t>Branch</a:t>
                      </a:r>
                    </a:p>
                  </a:txBody>
                  <a:tcPr marL="137160" marR="137160">
                    <a:solidFill>
                      <a:srgbClr val="2F4F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"/>
                        </a:rPr>
                        <a:t>Failure</a:t>
                      </a:r>
                    </a:p>
                  </a:txBody>
                  <a:tcPr marL="137160" marR="137160">
                    <a:solidFill>
                      <a:srgbClr val="2F4F6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 marL="137160" marR="137160">
                    <a:solidFill>
                      <a:srgbClr val="2F4F6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Domain RAG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Missing FAISS / corrupted bin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rag_chunks=[], WARNING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VIOLIN / BV-BRC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Missing CSV / wrong column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both bundles=[], WARNING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PubMed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Network / 5xx / timeout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publications=[], WARNING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Globus Search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SDK missing / network / bad UUID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globus_results=[], WARNING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Synthesis LLM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Endpoint down / model rejects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ValueError → MCP {error}</a:t>
                      </a:r>
                    </a:p>
                  </a:txBody>
                  <a:tcPr marL="137160" marR="137160">
                    <a:solidFill>
                      <a:srgbClr val="F5F5F8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ALL branches empty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fail_on_empty_retrieval gate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  <a:latin typeface="Helvetica"/>
                        </a:rPr>
                        <a:t>ValueError raised</a:t>
                      </a:r>
                    </a:p>
                  </a:txBody>
                  <a:tcPr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F4F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References</a:t>
            </a:r>
          </a:p>
          <a:p>
            <a:r>
              <a:rPr sz="1300">
                <a:solidFill>
                  <a:srgbClr val="CCD8E5"/>
                </a:solidFill>
                <a:latin typeface="Helvetica"/>
              </a:rPr>
              <a:t>Where to read 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docs/architecture.md — canonical end-to-end map (8 Mermaid diagrams + this content)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CLAUDE.md — repo-local rules (Python venv, FAISS import order, MCP tool listing)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../CLAUDE.md — workspace policy (cross-repo rules, mocks carve-out, harvester boundary)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docs/figures/*.png — source images for this deck (rerun build_figures.py to regenerate)</a:t>
            </a:r>
          </a:p>
          <a:p>
            <a:pPr>
              <a:lnSpc>
                <a:spcPct val="140000"/>
              </a:lnSpc>
            </a:pPr>
            <a:r>
              <a:rPr sz="1700">
                <a:solidFill>
                  <a:srgbClr val="222222"/>
                </a:solidFill>
                <a:latin typeface="Helvetica"/>
              </a:rPr>
              <a:t>•  tests/integration/test_rag_e2e_workflow_yaml.py — the cascade test that found the silent-failure bugs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D16837"/>
                </a:solidFill>
                <a:latin typeface="Helvetica"/>
              </a:rPr>
              <a:t>End — questions /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465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Helvetic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