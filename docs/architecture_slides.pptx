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2F4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0" tIns="365760"/>
          <a:lstStyle/>
          <a:p>
            <a:pPr algn="ctr"/>
            <a:r>
              <a:rPr sz="4800" b="1">
                <a:solidFill>
                  <a:srgbClr val="FFFFFF"/>
                </a:solidFill>
                <a:latin typeface="Helvetica"/>
              </a:rPr>
              <a:t>APECx MCP Integration</a:t>
            </a:r>
          </a:p>
          <a:p>
            <a:r>
              <a:rPr sz="3200">
                <a:solidFill>
                  <a:srgbClr val="CCD8E5"/>
                </a:solidFill>
                <a:latin typeface="Helvetica"/>
              </a:rPr>
              <a:t>End-to-End Architecture</a:t>
            </a:r>
          </a:p>
          <a:p>
            <a:r>
              <a:rPr sz="1800">
                <a:solidFill>
                  <a:srgbClr val="CCD8E5"/>
                </a:solidFill>
                <a:latin typeface="Helvetica"/>
              </a:rPr>
              <a:t>Synthesis pipeline · 23 MCP tools · 6 ontologies · 504 unit tests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852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Helvetica"/>
              </a:rPr>
              <a:t>Generated 2026-05-05  ·  apecx-mcp-integration repo  ·  branch day2-rag-synthesis-agent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4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Agenda</a:t>
            </a:r>
          </a:p>
          <a:p>
            <a:r>
              <a:rPr sz="1300">
                <a:solidFill>
                  <a:srgbClr val="CCD8E5"/>
                </a:solidFill>
                <a:latin typeface="Helvetica"/>
              </a:rPr>
              <a:t>What this deck covers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>
                <a:solidFill>
                  <a:srgbClr val="222222"/>
                </a:solidFill>
                <a:latin typeface="Helvetica"/>
              </a:rPr>
              <a:t>•  Two lifecycles — backend (offline, periodic) vs. user-facing (online, per-query)</a:t>
            </a:r>
          </a:p>
          <a:p>
            <a:pPr>
              <a:lnSpc>
                <a:spcPct val="115000"/>
              </a:lnSpc>
            </a:pPr>
            <a:r>
              <a:rPr sz="2000">
                <a:solidFill>
                  <a:srgbClr val="222222"/>
                </a:solidFill>
                <a:latin typeface="Helvetica"/>
              </a:rPr>
              <a:t>•  Backend harmonization pipeline — harvester + dictionary builder</a:t>
            </a:r>
          </a:p>
          <a:p>
            <a:pPr>
              <a:lnSpc>
                <a:spcPct val="115000"/>
              </a:lnSpc>
            </a:pPr>
            <a:r>
              <a:rPr sz="2000">
                <a:solidFill>
                  <a:srgbClr val="222222"/>
                </a:solidFill>
                <a:latin typeface="Helvetica"/>
              </a:rPr>
              <a:t>•  User-facing query workflow — MCP entry → synthesis → markdown</a:t>
            </a:r>
          </a:p>
          <a:p>
            <a:pPr>
              <a:lnSpc>
                <a:spcPct val="115000"/>
              </a:lnSpc>
            </a:pPr>
            <a:r>
              <a:rPr sz="2000">
                <a:solidFill>
                  <a:srgbClr val="222222"/>
                </a:solidFill>
                <a:latin typeface="Helvetica"/>
              </a:rPr>
              <a:t>•  Three-tier runtime topology (Tiers 1, 2, 4)</a:t>
            </a:r>
          </a:p>
          <a:p>
            <a:pPr>
              <a:lnSpc>
                <a:spcPct val="115000"/>
              </a:lnSpc>
            </a:pPr>
            <a:r>
              <a:rPr sz="2000">
                <a:solidFill>
                  <a:srgbClr val="222222"/>
                </a:solidFill>
                <a:latin typeface="Helvetica"/>
              </a:rPr>
              <a:t>•  Synthesis pipeline detail — 5 retrieval branches + LLM</a:t>
            </a:r>
          </a:p>
          <a:p>
            <a:pPr>
              <a:lnSpc>
                <a:spcPct val="115000"/>
              </a:lnSpc>
            </a:pPr>
            <a:r>
              <a:rPr sz="2000">
                <a:solidFill>
                  <a:srgbClr val="222222"/>
                </a:solidFill>
                <a:latin typeface="Helvetica"/>
              </a:rPr>
              <a:t>•  Trigger-cascade primitive (added 2026-05-05 to nanobrain)</a:t>
            </a:r>
          </a:p>
          <a:p>
            <a:pPr>
              <a:lnSpc>
                <a:spcPct val="115000"/>
              </a:lnSpc>
            </a:pPr>
            <a:r>
              <a:rPr sz="2000">
                <a:solidFill>
                  <a:srgbClr val="222222"/>
                </a:solidFill>
                <a:latin typeface="Helvetica"/>
              </a:rPr>
              <a:t>•  Mapping &amp; resolution strategy — fast / ancestor / slow / miss</a:t>
            </a:r>
          </a:p>
          <a:p>
            <a:pPr>
              <a:lnSpc>
                <a:spcPct val="115000"/>
              </a:lnSpc>
            </a:pPr>
            <a:r>
              <a:rPr sz="2000">
                <a:solidFill>
                  <a:srgbClr val="222222"/>
                </a:solidFill>
                <a:latin typeface="Helvetica"/>
              </a:rPr>
              <a:t>•  Ontologies, MCP tool surface, test surface</a:t>
            </a:r>
          </a:p>
          <a:p>
            <a:pPr>
              <a:lnSpc>
                <a:spcPct val="115000"/>
              </a:lnSpc>
            </a:pPr>
            <a:r>
              <a:rPr sz="2000">
                <a:solidFill>
                  <a:srgbClr val="222222"/>
                </a:solidFill>
                <a:latin typeface="Helvetica"/>
              </a:rPr>
              <a:t>•  Data quality — CI-enforced accuracy floors &amp; harmonization statistics</a:t>
            </a:r>
          </a:p>
          <a:p>
            <a:pPr>
              <a:lnSpc>
                <a:spcPct val="115000"/>
              </a:lnSpc>
            </a:pPr>
            <a:r>
              <a:rPr sz="2000">
                <a:solidFill>
                  <a:srgbClr val="222222"/>
                </a:solidFill>
                <a:latin typeface="Helvetica"/>
              </a:rPr>
              <a:t>•  Things that will surprise you (silent-failure shapes)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4652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Helvetica"/>
              </a:rPr>
              <a:t>2 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4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System Purpose</a:t>
            </a:r>
          </a:p>
          <a:p>
            <a:r>
              <a:rPr sz="1300">
                <a:solidFill>
                  <a:srgbClr val="CCD8E5"/>
                </a:solidFill>
                <a:latin typeface="Helvetica"/>
              </a:rPr>
              <a:t>One-paragraph definition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Helvetica"/>
              </a:rPr>
              <a:t>APECx MCP integration takes free-text scientist questions about viral pathogens, vaccines, genes, and genomes and turns them into grounded Markdown answers with inline citations.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10698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22222"/>
                </a:solidFill>
                <a:latin typeface="Helvetica"/>
              </a:rPr>
              <a:t>It does this by fanning out across local FAISS-indexed knowledge (domain RAG), local VIOLIN/BV-BRC tabular data (substring lookup), live PubMed publications, and the APECx Globus Search index of harvested records — then driving one LLM call to weave the retrieved evidence into a structured response.</a:t>
            </a:r>
            <a:br/>
            <a:br/>
            <a:r>
              <a:t>The system is exposed via the Model Context Protocol (MCP), so it appears as a tool surface inside Claude Desktop and any MCP-compatible client.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4652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Helvetica"/>
              </a:rPr>
              <a:t>3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4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Two Lifecycles, One Bridge</a:t>
            </a:r>
          </a:p>
          <a:p>
            <a:r>
              <a:rPr sz="1300">
                <a:solidFill>
                  <a:srgbClr val="CCD8E5"/>
                </a:solidFill>
                <a:latin typeface="Helvetica"/>
              </a:rPr>
              <a:t>Backend vs. user-facing — the central organizing distinction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D16837"/>
                </a:solidFill>
                <a:latin typeface="Helvetica"/>
              </a:rPr>
              <a:t>BACKEND HARMONIZATION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>
                <a:solidFill>
                  <a:srgbClr val="222222"/>
                </a:solidFill>
                <a:latin typeface="Helvetica"/>
              </a:rPr>
              <a:t>•  Run periodically (e.g. monthly)</a:t>
            </a:r>
          </a:p>
          <a:p>
            <a:pPr>
              <a:lnSpc>
                <a:spcPct val="125000"/>
              </a:lnSpc>
            </a:pPr>
            <a:r>
              <a:rPr sz="1400">
                <a:solidFill>
                  <a:srgbClr val="222222"/>
                </a:solidFill>
                <a:latin typeface="Helvetica"/>
              </a:rPr>
              <a:t>•  Two pipelines: harvester (apecx-harvesters) + dictionary builder (this repo)</a:t>
            </a:r>
          </a:p>
          <a:p>
            <a:pPr>
              <a:lnSpc>
                <a:spcPct val="125000"/>
              </a:lnSpc>
            </a:pPr>
            <a:r>
              <a:rPr sz="1400">
                <a:solidFill>
                  <a:srgbClr val="222222"/>
                </a:solidFill>
                <a:latin typeface="Helvetica"/>
              </a:rPr>
              <a:t>•  Writes Globus Search index + apecx_synonym_dict.sqlite</a:t>
            </a:r>
          </a:p>
          <a:p>
            <a:pPr>
              <a:lnSpc>
                <a:spcPct val="125000"/>
              </a:lnSpc>
            </a:pPr>
            <a:r>
              <a:rPr sz="1400">
                <a:solidFill>
                  <a:srgbClr val="222222"/>
                </a:solidFill>
                <a:latin typeface="Helvetica"/>
              </a:rPr>
              <a:t>•  Synchronous, batch, NOT on the per-query hot path</a:t>
            </a:r>
          </a:p>
          <a:p>
            <a:pPr>
              <a:lnSpc>
                <a:spcPct val="125000"/>
              </a:lnSpc>
            </a:pPr>
            <a:r>
              <a:rPr sz="1400">
                <a:solidFill>
                  <a:srgbClr val="222222"/>
                </a:solidFill>
                <a:latin typeface="Helvetica"/>
              </a:rPr>
              <a:t>•  Sources: PubMed, PDB, DataCite, Crossref, OpenAlex, bioRxiv, EMDB, DOI, VIOLIN, BV-BRC, NCBI taxdump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1887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060A0"/>
                </a:solidFill>
                <a:latin typeface="Helvetica"/>
              </a:rPr>
              <a:t>USER-FACING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78308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>
                <a:solidFill>
                  <a:srgbClr val="222222"/>
                </a:solidFill>
                <a:latin typeface="Helvetica"/>
              </a:rPr>
              <a:t>•  Per scientist query (~70s wall-clock on Ollama)</a:t>
            </a:r>
          </a:p>
          <a:p>
            <a:pPr>
              <a:lnSpc>
                <a:spcPct val="125000"/>
              </a:lnSpc>
            </a:pPr>
            <a:r>
              <a:rPr sz="1400">
                <a:solidFill>
                  <a:srgbClr val="222222"/>
                </a:solidFill>
                <a:latin typeface="Helvetica"/>
              </a:rPr>
              <a:t>•  MCP server → synthesize_query → 4 retrieval branches → LLM</a:t>
            </a:r>
          </a:p>
          <a:p>
            <a:pPr>
              <a:lnSpc>
                <a:spcPct val="125000"/>
              </a:lnSpc>
            </a:pPr>
            <a:r>
              <a:rPr sz="1400">
                <a:solidFill>
                  <a:srgbClr val="222222"/>
                </a:solidFill>
                <a:latin typeface="Helvetica"/>
              </a:rPr>
              <a:t>•  Reads the artifacts the backend wrote — never writes back</a:t>
            </a:r>
          </a:p>
          <a:p>
            <a:pPr>
              <a:lnSpc>
                <a:spcPct val="125000"/>
              </a:lnSpc>
            </a:pPr>
            <a:r>
              <a:rPr sz="1400">
                <a:solidFill>
                  <a:srgbClr val="222222"/>
                </a:solidFill>
                <a:latin typeface="Helvetica"/>
              </a:rPr>
              <a:t>•  Real-time, async, fail-soft branch failures</a:t>
            </a:r>
          </a:p>
          <a:p>
            <a:pPr>
              <a:lnSpc>
                <a:spcPct val="125000"/>
              </a:lnSpc>
            </a:pPr>
            <a:r>
              <a:rPr sz="1400">
                <a:solidFill>
                  <a:srgbClr val="222222"/>
                </a:solidFill>
                <a:latin typeface="Helvetica"/>
              </a:rPr>
              <a:t>•  Globus + FAISS + VIOLIN/BV-BRC + PubMed + (synonym dict for fast-path resolution)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7607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222222"/>
                </a:solidFill>
                <a:latin typeface="Helvetica"/>
              </a:rPr>
              <a:t>Bridge: every artifact the backend writes, the user-facing workflow reads — and never writes 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Helvetica"/>
              </a:rPr>
              <a:t>4 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4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Backend Harmonization Pipeline</a:t>
            </a:r>
          </a:p>
          <a:p>
            <a:r>
              <a:rPr sz="1300">
                <a:solidFill>
                  <a:srgbClr val="CCD8E5"/>
                </a:solidFill>
                <a:latin typeface="Helvetica"/>
              </a:rPr>
              <a:t>Offline · run periodically · harvester (apecx-harvesters) + dictionary builder (this repo)</a:t>
            </a:r>
          </a:p>
        </p:txBody>
      </p:sp>
      <p:pic>
        <p:nvPicPr>
          <p:cNvPr id="3" name="Picture 2" descr="10_backend_harmon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11521440" cy="746847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0" y="644652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Helvetica"/>
              </a:rPr>
              <a:t>5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4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User-Facing Workflow</a:t>
            </a:r>
          </a:p>
          <a:p>
            <a:r>
              <a:rPr sz="1300">
                <a:solidFill>
                  <a:srgbClr val="CCD8E5"/>
                </a:solidFill>
                <a:latin typeface="Helvetica"/>
              </a:rPr>
              <a:t>Online · per-query · ~70s wall-clock · 3 bands (MCP entry → synthesis → artifacts read)</a:t>
            </a:r>
          </a:p>
        </p:txBody>
      </p:sp>
      <p:pic>
        <p:nvPicPr>
          <p:cNvPr id="3" name="Picture 2" descr="11_user_facing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11521440" cy="746847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0" y="644652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Helvetica"/>
              </a:rPr>
              <a:t>6 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4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Three-Tier Runtime Topology</a:t>
            </a:r>
          </a:p>
          <a:p>
            <a:r>
              <a:rPr sz="1300">
                <a:solidFill>
                  <a:srgbClr val="CCD8E5"/>
                </a:solidFill>
                <a:latin typeface="Helvetica"/>
              </a:rPr>
              <a:t>Tier 1 (this repo) · Tier 2 (Control Plane) · Tier 4 (Executors)</a:t>
            </a:r>
          </a:p>
        </p:txBody>
      </p:sp>
      <p:pic>
        <p:nvPicPr>
          <p:cNvPr id="3" name="Picture 2" descr="01_three_tier_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11521440" cy="731721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0" y="644652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Helvetica"/>
              </a:rPr>
              <a:t>7 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4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Synthesis Pipeline</a:t>
            </a:r>
          </a:p>
          <a:p>
            <a:r>
              <a:rPr sz="1300">
                <a:solidFill>
                  <a:srgbClr val="CCD8E5"/>
                </a:solidFill>
                <a:latin typeface="Helvetica"/>
              </a:rPr>
              <a:t>5 concurrent retrieval branches → 1 LLM round-trip → grounded Markdown</a:t>
            </a:r>
          </a:p>
        </p:txBody>
      </p:sp>
      <p:pic>
        <p:nvPicPr>
          <p:cNvPr id="3" name="Picture 2" descr="02_synthesis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11521440" cy="65718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0" y="644652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Helvetica"/>
              </a:rPr>
              <a:t>8 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4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Three Invocation Paths</a:t>
            </a:r>
          </a:p>
          <a:p>
            <a:r>
              <a:rPr sz="1300">
                <a:solidFill>
                  <a:srgbClr val="CCD8E5"/>
                </a:solidFill>
                <a:latin typeface="Helvetica"/>
              </a:rPr>
              <a:t>Pick one based on the calling context</a:t>
            </a:r>
          </a:p>
        </p:txBody>
      </p:sp>
      <p:pic>
        <p:nvPicPr>
          <p:cNvPr id="3" name="Picture 2" descr="03_invocation_path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11521440" cy="583080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0" y="644652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Helvetica"/>
              </a:rPr>
              <a:t>9 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4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Workflow.wait_for_cascade</a:t>
            </a:r>
          </a:p>
          <a:p>
            <a:r>
              <a:rPr sz="1300">
                <a:solidFill>
                  <a:srgbClr val="CCD8E5"/>
                </a:solidFill>
                <a:latin typeface="Helvetica"/>
              </a:rPr>
              <a:t>Added to nanobrain 2026-05-05 — drains the trigger executor's task set with a settle window</a:t>
            </a:r>
          </a:p>
        </p:txBody>
      </p:sp>
      <p:pic>
        <p:nvPicPr>
          <p:cNvPr id="3" name="Picture 2" descr="08_trigger_cascade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11521440" cy="799492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0" y="644652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Helvetica"/>
              </a:rPr>
              <a:t>10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4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Mapping &amp; Resolution Strategy</a:t>
            </a:r>
          </a:p>
          <a:p>
            <a:r>
              <a:rPr sz="1300">
                <a:solidFill>
                  <a:srgbClr val="CCD8E5"/>
                </a:solidFill>
                <a:latin typeface="Helvetica"/>
              </a:rPr>
              <a:t>fast → ancestor → slow → miss; every result carries (path, confidence)</a:t>
            </a:r>
          </a:p>
        </p:txBody>
      </p:sp>
      <p:pic>
        <p:nvPicPr>
          <p:cNvPr id="3" name="Picture 2" descr="04_resolution_decision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914400"/>
            <a:ext cx="8686800" cy="5948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0" y="644652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Helvetica"/>
              </a:rPr>
              <a:t>11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4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Ontologies</a:t>
            </a:r>
          </a:p>
          <a:p>
            <a:r>
              <a:rPr sz="1300">
                <a:solidFill>
                  <a:srgbClr val="CCD8E5"/>
                </a:solidFill>
                <a:latin typeface="Helvetica"/>
              </a:rPr>
              <a:t>Authoritative sources tracked in DictionaryEntry.ontology</a:t>
            </a:r>
          </a:p>
        </p:txBody>
      </p:sp>
      <p:pic>
        <p:nvPicPr>
          <p:cNvPr id="3" name="Picture 2" descr="06_ontologies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11521440" cy="50256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0" y="644652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Helvetica"/>
              </a:rPr>
              <a:t>12 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4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MCP Tool Surface</a:t>
            </a:r>
          </a:p>
          <a:p>
            <a:r>
              <a:rPr sz="1300">
                <a:solidFill>
                  <a:srgbClr val="CCD8E5"/>
                </a:solidFill>
                <a:latin typeface="Helvetica"/>
              </a:rPr>
              <a:t>23 tools across 8 groups</a:t>
            </a:r>
          </a:p>
        </p:txBody>
      </p:sp>
      <p:pic>
        <p:nvPicPr>
          <p:cNvPr id="3" name="Picture 2" descr="07_mcp_tool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914400"/>
            <a:ext cx="10881360" cy="628846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0" y="644652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Helvetica"/>
              </a:rPr>
              <a:t>13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4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Test Surface</a:t>
            </a:r>
          </a:p>
          <a:p>
            <a:r>
              <a:rPr sz="1300">
                <a:solidFill>
                  <a:srgbClr val="CCD8E5"/>
                </a:solidFill>
                <a:latin typeface="Helvetica"/>
              </a:rPr>
              <a:t>504 unit tests · 7 workflow YAML · 1 cascade runtime — auto-skip when external deps missing</a:t>
            </a:r>
          </a:p>
        </p:txBody>
      </p:sp>
      <p:pic>
        <p:nvPicPr>
          <p:cNvPr id="3" name="Picture 2" descr="05_test_surf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11521440" cy="596982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0" y="644652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Helvetica"/>
              </a:rPr>
              <a:t>14 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4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Data Quality Assessment</a:t>
            </a:r>
          </a:p>
          <a:p>
            <a:r>
              <a:rPr sz="1300">
                <a:solidFill>
                  <a:srgbClr val="CCD8E5"/>
                </a:solidFill>
                <a:latin typeface="Helvetica"/>
              </a:rPr>
              <a:t>Three-test pattern · CI-enforced floors · live-OLS gating, no mocks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222222"/>
                </a:solidFill>
                <a:latin typeface="Helvetica"/>
              </a:rPr>
              <a:t>•  AccuracyMetrics — recall + precision + F1 from confusion-matrix counts (correct / incorrect / ground-truth total)</a:t>
            </a:r>
          </a:p>
          <a:p>
            <a:pPr>
              <a:lnSpc>
                <a:spcPct val="130000"/>
              </a:lnSpc>
            </a:pPr>
            <a:r>
              <a:rPr sz="1500">
                <a:solidFill>
                  <a:srgbClr val="222222"/>
                </a:solidFill>
                <a:latin typeface="Helvetica"/>
              </a:rPr>
              <a:t>•  Three-test pattern: slice baseline (60-row deterministic sample, fast feedback) → full corpus (all 13,238 rows, gated by APECX_SYNONYM_DICT_FULL_CORPUS=1) → probe-batch sampling (50 / 300 spot-checks at the boundary)</a:t>
            </a:r>
          </a:p>
          <a:p>
            <a:pPr>
              <a:lnSpc>
                <a:spcPct val="130000"/>
              </a:lnSpc>
            </a:pPr>
            <a:r>
              <a:rPr sz="1500">
                <a:solidFill>
                  <a:srgbClr val="222222"/>
                </a:solidFill>
                <a:latin typeface="Helvetica"/>
              </a:rPr>
              <a:t>•  Live OLS gating — APECX_SYNONYM_DICT_LIVE_OLS=1 required; tests auto-skip when the resolver is unreachable rather than mocking it (workspace mocks-only-for-smoke rule)</a:t>
            </a:r>
          </a:p>
          <a:p>
            <a:pPr>
              <a:lnSpc>
                <a:spcPct val="130000"/>
              </a:lnSpc>
            </a:pPr>
            <a:r>
              <a:rPr sz="1500">
                <a:solidFill>
                  <a:srgbClr val="222222"/>
                </a:solidFill>
                <a:latin typeface="Helvetica"/>
              </a:rPr>
              <a:t>•  Per-class enforcement: Pathogen (R≥0.90, P≥0.95, F1≥0.92), Vaccine (R≥0.75, P≥0.85), Gene (R≥0.65, P≥0.95), Disease (search-only — no recall floor)</a:t>
            </a:r>
          </a:p>
          <a:p>
            <a:pPr>
              <a:lnSpc>
                <a:spcPct val="130000"/>
              </a:lnSpc>
            </a:pPr>
            <a:r>
              <a:rPr sz="1500">
                <a:solidFill>
                  <a:srgbClr val="222222"/>
                </a:solidFill>
                <a:latin typeface="Helvetica"/>
              </a:rPr>
              <a:t>•  Floors are LOWER BOUNDS, not target observed values — a build that misses any floor fails CI</a:t>
            </a:r>
          </a:p>
          <a:p>
            <a:pPr>
              <a:lnSpc>
                <a:spcPct val="130000"/>
              </a:lnSpc>
            </a:pPr>
            <a:r>
              <a:rPr sz="1500">
                <a:solidFill>
                  <a:srgbClr val="222222"/>
                </a:solidFill>
                <a:latin typeface="Helvetica"/>
              </a:rPr>
              <a:t>•  Source of truth: tests/integration/test_synonym_accuracy.py (behavior pinned by tests/unit/test_metrics_invariants.py)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4652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Helvetica"/>
              </a:rPr>
              <a:t>15 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4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Accuracy Floors per Entity Class</a:t>
            </a:r>
          </a:p>
          <a:p>
            <a:r>
              <a:rPr sz="1300">
                <a:solidFill>
                  <a:srgbClr val="CCD8E5"/>
                </a:solidFill>
                <a:latin typeface="Helvetica"/>
              </a:rPr>
              <a:t>Slice baseline (60 rows) vs. full-corpus floor — both CI-enforced; bars are lower bounds, not observed values</a:t>
            </a:r>
          </a:p>
        </p:txBody>
      </p:sp>
      <p:pic>
        <p:nvPicPr>
          <p:cNvPr id="3" name="Picture 2" descr="12_accuracy_threshol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11521440" cy="45340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943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66666"/>
                </a:solidFill>
                <a:latin typeface="Helvetica"/>
              </a:rPr>
              <a:t>A reading of 0.95 means the test enforces ≥95% — the actual run is at-or-above. Source: tests/integration/test_synonym_accuracy.py.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4652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Helvetica"/>
              </a:rPr>
              <a:t>16 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4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Harmonization Statistics</a:t>
            </a:r>
          </a:p>
          <a:p>
            <a:r>
              <a:rPr sz="1300">
                <a:solidFill>
                  <a:srgbClr val="CCD8E5"/>
                </a:solidFill>
                <a:latin typeface="Helvetica"/>
              </a:rPr>
              <a:t>Source corpus rows · resolution-status confidence · 13,238 total rows verified 2026-05-05</a:t>
            </a:r>
          </a:p>
        </p:txBody>
      </p:sp>
      <p:pic>
        <p:nvPicPr>
          <p:cNvPr id="3" name="Picture 2" descr="13_harmonization_st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11521440" cy="45355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943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66666"/>
                </a:solidFill>
                <a:latin typeface="Helvetica"/>
              </a:rPr>
              <a:t>Status taxonomy from synonym_dictionary/enums.py — every resolution result carries (status, confidence) to the caller, so downstream code can filter by quality.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4652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Helvetica"/>
              </a:rPr>
              <a:t>17 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4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Session Outcome</a:t>
            </a:r>
          </a:p>
          <a:p>
            <a:r>
              <a:rPr sz="1300">
                <a:solidFill>
                  <a:srgbClr val="CCD8E5"/>
                </a:solidFill>
                <a:latin typeface="Helvetica"/>
              </a:rPr>
              <a:t>12 bugs / drifts uncovered, all fixed and pinned by tests</a:t>
            </a:r>
          </a:p>
        </p:txBody>
      </p:sp>
      <p:pic>
        <p:nvPicPr>
          <p:cNvPr id="3" name="Picture 2" descr="09_session_bug_cou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914400"/>
            <a:ext cx="10881360" cy="60504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0" y="644652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Helvetica"/>
              </a:rPr>
              <a:t>18 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4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Things That Will Surprise You</a:t>
            </a:r>
          </a:p>
          <a:p>
            <a:r>
              <a:rPr sz="1300">
                <a:solidFill>
                  <a:srgbClr val="CCD8E5"/>
                </a:solidFill>
                <a:latin typeface="Helvetica"/>
              </a:rPr>
              <a:t>Silent-failure shapes you'll hit if you don't know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800">
                <a:solidFill>
                  <a:srgbClr val="222222"/>
                </a:solidFill>
                <a:latin typeface="Helvetica"/>
              </a:rPr>
              <a:t>•  Workflow.process(input) is fire-and-forget — use wait_for_cascade to await</a:t>
            </a:r>
          </a:p>
          <a:p>
            <a:pPr>
              <a:lnSpc>
                <a:spcPct val="125000"/>
              </a:lnSpc>
            </a:pPr>
            <a:r>
              <a:rPr sz="1800">
                <a:solidFill>
                  <a:srgbClr val="222222"/>
                </a:solidFill>
                <a:latin typeface="Helvetica"/>
              </a:rPr>
              <a:t>•  DirectLink defaults to auto_transfer=False — workflow loads, cascade no-ops</a:t>
            </a:r>
          </a:p>
          <a:p>
            <a:pPr>
              <a:lnSpc>
                <a:spcPct val="125000"/>
              </a:lnSpc>
            </a:pPr>
            <a:r>
              <a:rPr sz="1800">
                <a:solidFill>
                  <a:srgbClr val="222222"/>
                </a:solidFill>
                <a:latin typeface="Helvetica"/>
              </a:rPr>
              <a:t>•  Workflows need workflow-level input_data_units AND step-level data_units</a:t>
            </a:r>
          </a:p>
          <a:p>
            <a:pPr>
              <a:lnSpc>
                <a:spcPct val="125000"/>
              </a:lnSpc>
            </a:pPr>
            <a:r>
              <a:rPr sz="1800">
                <a:solidFill>
                  <a:srgbClr val="222222"/>
                </a:solidFill>
                <a:latin typeface="Helvetica"/>
              </a:rPr>
              <a:t>•  Trigger inputs are wrapped {unit_name: payload}; direct callers pass raw</a:t>
            </a:r>
          </a:p>
          <a:p>
            <a:pPr>
              <a:lnSpc>
                <a:spcPct val="125000"/>
              </a:lnSpc>
            </a:pPr>
            <a:r>
              <a:rPr sz="1800">
                <a:solidFill>
                  <a:srgbClr val="222222"/>
                </a:solidFill>
                <a:latin typeface="Helvetica"/>
              </a:rPr>
              <a:t>•  FAISS / sentence_transformers import order is load-bearing on macOS ARM</a:t>
            </a:r>
          </a:p>
          <a:p>
            <a:pPr>
              <a:lnSpc>
                <a:spcPct val="125000"/>
              </a:lnSpc>
            </a:pPr>
            <a:r>
              <a:rPr sz="1800">
                <a:solidFill>
                  <a:srgbClr val="222222"/>
                </a:solidFill>
                <a:latin typeface="Helvetica"/>
              </a:rPr>
              <a:t>•  Synthesis branch failures degrade gracefully; all-empty raises ValueError</a:t>
            </a:r>
          </a:p>
          <a:p>
            <a:pPr>
              <a:lnSpc>
                <a:spcPct val="125000"/>
              </a:lnSpc>
            </a:pPr>
            <a:r>
              <a:rPr sz="1800">
                <a:solidFill>
                  <a:srgbClr val="222222"/>
                </a:solidFill>
                <a:latin typeface="Helvetica"/>
              </a:rPr>
              <a:t>•  Globus Search is read-only at the ingest boundary — harvester is offline</a:t>
            </a:r>
          </a:p>
          <a:p>
            <a:pPr>
              <a:lnSpc>
                <a:spcPct val="125000"/>
              </a:lnSpc>
            </a:pPr>
            <a:r>
              <a:rPr sz="1800">
                <a:solidFill>
                  <a:srgbClr val="222222"/>
                </a:solidFill>
                <a:latin typeface="Helvetica"/>
              </a:rPr>
              <a:t>•  extra='forbid' is mandatory on every step config (silent typo defense)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4652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Helvetica"/>
              </a:rPr>
              <a:t>19 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4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Failure Contract Per Branch</a:t>
            </a:r>
          </a:p>
          <a:p>
            <a:r>
              <a:rPr sz="1300">
                <a:solidFill>
                  <a:srgbClr val="CCD8E5"/>
                </a:solidFill>
                <a:latin typeface="Helvetica"/>
              </a:rPr>
              <a:t>Branch failures degrade; all-empty raises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188720"/>
          <a:ext cx="110642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297680"/>
                <a:gridCol w="4389120"/>
              </a:tblGrid>
              <a:tr h="65314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Helvetica"/>
                        </a:rPr>
                        <a:t>Branch</a:t>
                      </a:r>
                    </a:p>
                  </a:txBody>
                  <a:tcPr marL="137160" marR="137160">
                    <a:solidFill>
                      <a:srgbClr val="2F4F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Helvetica"/>
                        </a:rPr>
                        <a:t>Failure</a:t>
                      </a:r>
                    </a:p>
                  </a:txBody>
                  <a:tcPr marL="137160" marR="137160">
                    <a:solidFill>
                      <a:srgbClr val="2F4F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Helvetica"/>
                        </a:rPr>
                        <a:t>Effect</a:t>
                      </a:r>
                    </a:p>
                  </a:txBody>
                  <a:tcPr marL="137160" marR="137160">
                    <a:solidFill>
                      <a:srgbClr val="2F4F6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  <a:latin typeface="Helvetica"/>
                        </a:rPr>
                        <a:t>Domain RAG</a:t>
                      </a:r>
                    </a:p>
                  </a:txBody>
                  <a:tcPr marL="137160" marR="137160">
                    <a:solidFill>
                      <a:srgbClr val="F5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  <a:latin typeface="Helvetica"/>
                        </a:rPr>
                        <a:t>Missing FAISS / corrupted bin</a:t>
                      </a:r>
                    </a:p>
                  </a:txBody>
                  <a:tcPr marL="137160" marR="137160">
                    <a:solidFill>
                      <a:srgbClr val="F5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  <a:latin typeface="Helvetica"/>
                        </a:rPr>
                        <a:t>rag_chunks=[], WARNING</a:t>
                      </a:r>
                    </a:p>
                  </a:txBody>
                  <a:tcPr marL="137160" marR="137160">
                    <a:solidFill>
                      <a:srgbClr val="F5F5F8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  <a:latin typeface="Helvetica"/>
                        </a:rPr>
                        <a:t>VIOLIN / BV-BRC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  <a:latin typeface="Helvetica"/>
                        </a:rPr>
                        <a:t>Missing CSV / wrong column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  <a:latin typeface="Helvetica"/>
                        </a:rPr>
                        <a:t>both bundles=[], WARNING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  <a:latin typeface="Helvetica"/>
                        </a:rPr>
                        <a:t>PubMed</a:t>
                      </a:r>
                    </a:p>
                  </a:txBody>
                  <a:tcPr marL="137160" marR="137160">
                    <a:solidFill>
                      <a:srgbClr val="F5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  <a:latin typeface="Helvetica"/>
                        </a:rPr>
                        <a:t>Network / 5xx / timeout</a:t>
                      </a:r>
                    </a:p>
                  </a:txBody>
                  <a:tcPr marL="137160" marR="137160">
                    <a:solidFill>
                      <a:srgbClr val="F5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  <a:latin typeface="Helvetica"/>
                        </a:rPr>
                        <a:t>publications=[], WARNING</a:t>
                      </a:r>
                    </a:p>
                  </a:txBody>
                  <a:tcPr marL="137160" marR="137160">
                    <a:solidFill>
                      <a:srgbClr val="F5F5F8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  <a:latin typeface="Helvetica"/>
                        </a:rPr>
                        <a:t>Globus Search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  <a:latin typeface="Helvetica"/>
                        </a:rPr>
                        <a:t>SDK missing / network / bad UUID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  <a:latin typeface="Helvetica"/>
                        </a:rPr>
                        <a:t>globus_results=[], WARNING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  <a:latin typeface="Helvetica"/>
                        </a:rPr>
                        <a:t>Synthesis LLM</a:t>
                      </a:r>
                    </a:p>
                  </a:txBody>
                  <a:tcPr marL="137160" marR="137160">
                    <a:solidFill>
                      <a:srgbClr val="F5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  <a:latin typeface="Helvetica"/>
                        </a:rPr>
                        <a:t>Endpoint down / model rejects</a:t>
                      </a:r>
                    </a:p>
                  </a:txBody>
                  <a:tcPr marL="137160" marR="137160">
                    <a:solidFill>
                      <a:srgbClr val="F5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  <a:latin typeface="Helvetica"/>
                        </a:rPr>
                        <a:t>ValueError → MCP {error}</a:t>
                      </a:r>
                    </a:p>
                  </a:txBody>
                  <a:tcPr marL="137160" marR="137160">
                    <a:solidFill>
                      <a:srgbClr val="F5F5F8"/>
                    </a:solidFill>
                  </a:tcPr>
                </a:tc>
              </a:tr>
              <a:tr h="65314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  <a:latin typeface="Helvetica"/>
                        </a:rPr>
                        <a:t>ALL branches empty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  <a:latin typeface="Helvetica"/>
                        </a:rPr>
                        <a:t>fail_on_empty_retrieval gate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  <a:latin typeface="Helvetica"/>
                        </a:rPr>
                        <a:t>ValueError raised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515600" y="644652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Helvetica"/>
              </a:rPr>
              <a:t>20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4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References</a:t>
            </a:r>
          </a:p>
          <a:p>
            <a:r>
              <a:rPr sz="1300">
                <a:solidFill>
                  <a:srgbClr val="CCD8E5"/>
                </a:solidFill>
                <a:latin typeface="Helvetica"/>
              </a:rPr>
              <a:t>Where to read more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</a:pPr>
            <a:r>
              <a:rPr sz="1700">
                <a:solidFill>
                  <a:srgbClr val="222222"/>
                </a:solidFill>
                <a:latin typeface="Helvetica"/>
              </a:rPr>
              <a:t>•  docs/architecture.md — canonical end-to-end map (8 Mermaid diagrams + this content)</a:t>
            </a:r>
          </a:p>
          <a:p>
            <a:pPr>
              <a:lnSpc>
                <a:spcPct val="140000"/>
              </a:lnSpc>
            </a:pPr>
            <a:r>
              <a:rPr sz="1700">
                <a:solidFill>
                  <a:srgbClr val="222222"/>
                </a:solidFill>
                <a:latin typeface="Helvetica"/>
              </a:rPr>
              <a:t>•  CLAUDE.md — repo-local rules (Python venv, FAISS import order, MCP tool listing)</a:t>
            </a:r>
          </a:p>
          <a:p>
            <a:pPr>
              <a:lnSpc>
                <a:spcPct val="140000"/>
              </a:lnSpc>
            </a:pPr>
            <a:r>
              <a:rPr sz="1700">
                <a:solidFill>
                  <a:srgbClr val="222222"/>
                </a:solidFill>
                <a:latin typeface="Helvetica"/>
              </a:rPr>
              <a:t>•  ../CLAUDE.md — workspace policy (cross-repo rules, mocks carve-out, harvester boundary)</a:t>
            </a:r>
          </a:p>
          <a:p>
            <a:pPr>
              <a:lnSpc>
                <a:spcPct val="140000"/>
              </a:lnSpc>
            </a:pPr>
            <a:r>
              <a:rPr sz="1700">
                <a:solidFill>
                  <a:srgbClr val="222222"/>
                </a:solidFill>
                <a:latin typeface="Helvetica"/>
              </a:rPr>
              <a:t>•  docs/figures/*.png — source images for this deck (rerun build_figures.py to regenerate)</a:t>
            </a:r>
          </a:p>
          <a:p>
            <a:pPr>
              <a:lnSpc>
                <a:spcPct val="140000"/>
              </a:lnSpc>
            </a:pPr>
            <a:r>
              <a:rPr sz="1700">
                <a:solidFill>
                  <a:srgbClr val="222222"/>
                </a:solidFill>
                <a:latin typeface="Helvetica"/>
              </a:rPr>
              <a:t>•  tests/integration/test_rag_e2e_workflow_yaml.py — the cascade test that found the silent-failure bugs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D16837"/>
                </a:solidFill>
                <a:latin typeface="Helvetica"/>
              </a:rPr>
              <a:t>End — questions /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4652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Helvetica"/>
              </a:rPr>
              <a:t>21 /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